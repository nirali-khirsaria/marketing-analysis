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70" r:id="rId3"/>
    <p:sldId id="271" r:id="rId4"/>
    <p:sldId id="272" r:id="rId5"/>
    <p:sldId id="273" r:id="rId6"/>
    <p:sldId id="274" r:id="rId7"/>
    <p:sldId id="276" r:id="rId8"/>
    <p:sldId id="275" r:id="rId9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117" d="100"/>
          <a:sy n="117" d="100"/>
        </p:scale>
        <p:origin x="354" y="84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1986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8CEC3D-96F7-401F-9673-3EE7F75C9C5B}" type="datetimeFigureOut">
              <a:rPr lang="en-US"/>
              <a:t>12/16/2025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8ED8CD-4E4C-49AC-BDC6-2963BA49E54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4179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32BCF4-D26D-4DAF-9F57-FE1E61FE7935}" type="datetimeFigureOut">
              <a:rPr lang="en-US"/>
              <a:t>12/16/2025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B91549-43BF-425A-AF25-7526201920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9286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ooking up to clouds and blue sky surrounded by glass-walled buildings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73625" y="0"/>
            <a:ext cx="7315200" cy="685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8013" y="685801"/>
            <a:ext cx="3962400" cy="4724399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8013" y="5410200"/>
            <a:ext cx="3962400" cy="7620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3FC7-9D1A-468B-98DB-D1E8D74418D9}" type="datetimeFigureOut">
              <a:rPr lang="en-US"/>
              <a:pPr/>
              <a:t>12/16/2025</a:t>
            </a:fld>
            <a:endParaRPr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1473-23EB-4724-8B59-FE6D21D89FA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4839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3FC7-9D1A-468B-98DB-D1E8D74418D9}" type="datetimeFigureOut">
              <a:rPr lang="en-US"/>
              <a:t>12/16/2025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1473-23EB-4724-8B59-FE6D21D89FA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37862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13" y="2590800"/>
            <a:ext cx="8229599" cy="2819400"/>
          </a:xfrm>
        </p:spPr>
        <p:txBody>
          <a:bodyPr anchor="b">
            <a:normAutofit/>
          </a:bodyPr>
          <a:lstStyle>
            <a:lvl1pPr algn="l">
              <a:defRPr sz="48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6425" y="5410200"/>
            <a:ext cx="8231187" cy="762000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3FC7-9D1A-468B-98DB-D1E8D74418D9}" type="datetimeFigureOut">
              <a:rPr lang="en-US"/>
              <a:pPr/>
              <a:t>12/16/2025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1473-23EB-4724-8B59-FE6D21D89FA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2511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3813" y="685800"/>
            <a:ext cx="5029200" cy="419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51614" y="685800"/>
            <a:ext cx="5029199" cy="419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3FC7-9D1A-468B-98DB-D1E8D74418D9}" type="datetimeFigureOut">
              <a:rPr lang="en-US"/>
              <a:t>12/16/2025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1473-23EB-4724-8B59-FE6D21D89FA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97013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3664" y="685800"/>
            <a:ext cx="5029200" cy="9906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3664" y="1676400"/>
            <a:ext cx="502920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51613" y="685800"/>
            <a:ext cx="5029200" cy="9906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50025" y="1676400"/>
            <a:ext cx="502920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3FC7-9D1A-468B-98DB-D1E8D74418D9}" type="datetimeFigureOut">
              <a:rPr lang="en-US"/>
              <a:t>12/16/2025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1473-23EB-4724-8B59-FE6D21D89FA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3096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3FC7-9D1A-468B-98DB-D1E8D74418D9}" type="datetimeFigureOut">
              <a:rPr lang="en-US"/>
              <a:t>12/16/2025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1473-23EB-4724-8B59-FE6D21D89FA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34428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3FC7-9D1A-468B-98DB-D1E8D74418D9}" type="datetimeFigureOut">
              <a:rPr lang="en-US"/>
              <a:t>12/16/2025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1473-23EB-4724-8B59-FE6D21D89FA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0311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14" y="685800"/>
            <a:ext cx="3962400" cy="4724400"/>
          </a:xfrm>
        </p:spPr>
        <p:txBody>
          <a:bodyPr anchor="b">
            <a:no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5212" y="685800"/>
            <a:ext cx="670417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013" y="5410200"/>
            <a:ext cx="3962400" cy="7620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3FC7-9D1A-468B-98DB-D1E8D74418D9}" type="datetimeFigureOut">
              <a:rPr lang="en-US"/>
              <a:t>12/16/2025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1473-23EB-4724-8B59-FE6D21D89FA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34726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14" y="685800"/>
            <a:ext cx="3962400" cy="4724400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4875213" y="685800"/>
            <a:ext cx="6705600" cy="5486400"/>
          </a:xfrm>
          <a:ln w="63500">
            <a:solidFill>
              <a:schemeClr val="bg1"/>
            </a:solidFill>
            <a:miter lim="800000"/>
          </a:ln>
        </p:spPr>
        <p:txBody>
          <a:bodyPr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013" y="5410200"/>
            <a:ext cx="3962400" cy="7620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3FC7-9D1A-468B-98DB-D1E8D74418D9}" type="datetimeFigureOut">
              <a:rPr lang="en-US"/>
              <a:t>12/16/2025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1473-23EB-4724-8B59-FE6D21D89FA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2041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3FC7-9D1A-468B-98DB-D1E8D74418D9}" type="datetimeFigureOut">
              <a:rPr lang="en-US"/>
              <a:t>12/16/2025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1473-23EB-4724-8B59-FE6D21D89FA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6294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85412" y="685800"/>
            <a:ext cx="1295401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8012" y="685800"/>
            <a:ext cx="9474253" cy="54864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3FC7-9D1A-468B-98DB-D1E8D74418D9}" type="datetimeFigureOut">
              <a:rPr lang="en-US"/>
              <a:t>12/16/2025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1473-23EB-4724-8B59-FE6D21D89FA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50052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5105400"/>
            <a:ext cx="10971372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3813" y="685800"/>
            <a:ext cx="10287000" cy="4190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fld id="{81C93FC7-9D1A-468B-98DB-D1E8D74418D9}" type="datetimeFigureOut">
              <a:rPr lang="en-US" smtClean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fld id="{A3F31473-23EB-4724-8B59-FE6D21D89F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2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/>
        </a:buClr>
        <a:buSzPct val="8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15950" indent="-285750" algn="l" defTabSz="914400" rtl="0" eaLnBrk="1" latinLnBrk="0" hangingPunct="1">
        <a:lnSpc>
          <a:spcPct val="90000"/>
        </a:lnSpc>
        <a:spcBef>
          <a:spcPts val="600"/>
        </a:spcBef>
        <a:buSzPct val="80000"/>
        <a:buFont typeface="Corbe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80744" indent="-283464" algn="l" defTabSz="914400" rtl="0" eaLnBrk="1" latinLnBrk="0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764792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148840" indent="-283464" algn="l" defTabSz="914400" rtl="0" eaLnBrk="1" latinLnBrk="0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532888" indent="-228600" algn="l" defTabSz="914400" rtl="0" eaLnBrk="1" latinLnBrk="0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916936" indent="-283464" algn="l" defTabSz="914400" rtl="0" eaLnBrk="1" latinLnBrk="0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300984" indent="-228600" algn="l" defTabSz="914400" rtl="0" eaLnBrk="1" latinLnBrk="0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8013" y="609600"/>
            <a:ext cx="3962400" cy="1752600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Marketing Project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2112" y="2514600"/>
            <a:ext cx="3962400" cy="762000"/>
          </a:xfrm>
        </p:spPr>
        <p:txBody>
          <a:bodyPr>
            <a:normAutofit/>
          </a:bodyPr>
          <a:lstStyle/>
          <a:p>
            <a:r>
              <a:rPr lang="en-US" dirty="0"/>
              <a:t>Car Evaluation Database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81DBEBB-0386-119E-5DD5-6EAB4723D724}"/>
              </a:ext>
            </a:extLst>
          </p:cNvPr>
          <p:cNvSpPr txBox="1">
            <a:spLocks/>
          </p:cNvSpPr>
          <p:nvPr/>
        </p:nvSpPr>
        <p:spPr>
          <a:xfrm>
            <a:off x="27167" y="5076645"/>
            <a:ext cx="3962400" cy="1752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8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NIRALI </a:t>
            </a:r>
            <a:r>
              <a:rPr lang="en-US" sz="2800">
                <a:solidFill>
                  <a:schemeClr val="bg2">
                    <a:lumMod val="50000"/>
                  </a:schemeClr>
                </a:solidFill>
              </a:rPr>
              <a:t>KHIRSARIA </a:t>
            </a:r>
            <a:endParaRPr lang="en-US" sz="28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080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42027" y="685800"/>
            <a:ext cx="6819185" cy="762000"/>
          </a:xfrm>
        </p:spPr>
        <p:txBody>
          <a:bodyPr>
            <a:normAutofit/>
          </a:bodyPr>
          <a:lstStyle/>
          <a:p>
            <a:r>
              <a:rPr lang="en-US" dirty="0"/>
              <a:t>Project Proposal 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531812" y="1752600"/>
            <a:ext cx="10287000" cy="4190999"/>
          </a:xfrm>
        </p:spPr>
        <p:txBody>
          <a:bodyPr/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aim of this project is to conduct a comprehensive market analysis of the provided dataset containing  used vehicle information.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analysis aims to provide valuable insights into various aspects of the market, including price trends, popular vehicle types, brand preferences and the impact of other factors.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OBJECTIVE: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Perform segmentation analysis based on vehicle type, brand, fuel type, year of registration and other relevant factors.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Analyze price trends and identify factors affecting used car prices.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723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14656D4-4D9C-0ED1-AAA4-91838935E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28" y="1524000"/>
            <a:ext cx="5541184" cy="52578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2BC5115-F65D-3DE4-C853-E3AEB466539B}"/>
              </a:ext>
            </a:extLst>
          </p:cNvPr>
          <p:cNvSpPr txBox="1"/>
          <p:nvPr/>
        </p:nvSpPr>
        <p:spPr>
          <a:xfrm>
            <a:off x="455612" y="381000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Histogram for Price.</a:t>
            </a:r>
          </a:p>
          <a:p>
            <a:r>
              <a:rPr lang="en-US" sz="3200" dirty="0"/>
              <a:t>Observation: Positive skewed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95158F-7F40-1E12-AD55-B3A24D862811}"/>
              </a:ext>
            </a:extLst>
          </p:cNvPr>
          <p:cNvSpPr txBox="1"/>
          <p:nvPr/>
        </p:nvSpPr>
        <p:spPr>
          <a:xfrm>
            <a:off x="6704012" y="1499558"/>
            <a:ext cx="43434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Distribution of price is right skewed and it helps us to find which price range customer generally bought cars.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are relatively few high-priced items compared to the number of lower-priced items.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is a concentration of prices on the lower end, with a few high-priced outliers.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a market context, a positively skewed price distribution might suggest that </a:t>
            </a:r>
            <a:r>
              <a:rPr lang="en-US" b="1" dirty="0"/>
              <a:t>most products or services are priced relatively low, but there are some premium or luxury items that command significantly higher prices.</a:t>
            </a:r>
          </a:p>
        </p:txBody>
      </p:sp>
    </p:spTree>
    <p:extLst>
      <p:ext uri="{BB962C8B-B14F-4D97-AF65-F5344CB8AC3E}">
        <p14:creationId xmlns:p14="http://schemas.microsoft.com/office/powerpoint/2010/main" val="2655166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B2BC5115-F65D-3DE4-C853-E3AEB466539B}"/>
              </a:ext>
            </a:extLst>
          </p:cNvPr>
          <p:cNvSpPr txBox="1"/>
          <p:nvPr/>
        </p:nvSpPr>
        <p:spPr>
          <a:xfrm>
            <a:off x="455612" y="381000"/>
            <a:ext cx="8763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Basic charts to observe customer behavior: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41BBB04-CF74-4601-2A0B-A35A2E932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612" y="965775"/>
            <a:ext cx="5158348" cy="49232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966075D-E1D8-5BA6-B97F-C7DB01A66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9612" y="968937"/>
            <a:ext cx="6096000" cy="4920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373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B2BC5115-F65D-3DE4-C853-E3AEB466539B}"/>
              </a:ext>
            </a:extLst>
          </p:cNvPr>
          <p:cNvSpPr txBox="1"/>
          <p:nvPr/>
        </p:nvSpPr>
        <p:spPr>
          <a:xfrm>
            <a:off x="455612" y="38100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Market analysis: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B9D4DD-4CC9-76F6-3F99-38B5C9065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012" y="1458219"/>
            <a:ext cx="5867400" cy="42809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BA051F-B228-C31B-E0AB-29D5A92BE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0661" y="1458219"/>
            <a:ext cx="5653749" cy="4280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681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3050FABC-0CBC-EC32-3855-7B71DE9E6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612" y="0"/>
            <a:ext cx="5029200" cy="990600"/>
          </a:xfrm>
        </p:spPr>
        <p:txBody>
          <a:bodyPr/>
          <a:lstStyle/>
          <a:p>
            <a:r>
              <a:rPr lang="en-US" dirty="0"/>
              <a:t>Segmentation analysis: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76100A-3DA3-8A64-0DC3-99AA1FD47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0"/>
            <a:ext cx="6322864" cy="3902393"/>
          </a:xfrm>
          <a:prstGeom prst="rect">
            <a:avLst/>
          </a:prstGeom>
          <a:noFill/>
        </p:spPr>
      </p:pic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EEE7A2ED-61C8-294E-AFA4-D0BC49A0A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31474"/>
            <a:ext cx="5029200" cy="6321725"/>
          </a:xfrm>
        </p:spPr>
        <p:txBody>
          <a:bodyPr/>
          <a:lstStyle/>
          <a:p>
            <a:endParaRPr lang="en-US" dirty="0"/>
          </a:p>
          <a:p>
            <a:r>
              <a:rPr lang="en-US" sz="1800" dirty="0"/>
              <a:t>Segmentation analysis involves dividing a market into distinct groups based on certain criteria to better understand and target specific customer needs and preferences.</a:t>
            </a:r>
          </a:p>
          <a:p>
            <a:r>
              <a:rPr lang="en-US" sz="1800" dirty="0"/>
              <a:t>Here we can observe that customer mostly prefer lower horsepower cars tend to be more fuel-efficient. Toyota have highest selling count. Cost of this cars are highly comparable.</a:t>
            </a:r>
          </a:p>
          <a:p>
            <a:r>
              <a:rPr lang="en-US" sz="1800" dirty="0"/>
              <a:t>High horsepower cars like Porshe, Jaguar are luxury cars. In market these kind of buyers are less.</a:t>
            </a:r>
          </a:p>
          <a:p>
            <a:r>
              <a:rPr lang="en-US" sz="1800" dirty="0"/>
              <a:t>After doing segmentation analysis we can find usage pattern , brand , preference of customer and this analysis help us to identify future selling count , </a:t>
            </a:r>
            <a:r>
              <a:rPr lang="en-US" sz="1800"/>
              <a:t>marketing plan. 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009281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1BD78E-5F87-1611-0B1E-C742C13D5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0812" y="152400"/>
            <a:ext cx="8001000" cy="4572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Conclusion and Recommendation: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2F77FCB-DDD3-B3C9-5D39-C29C259973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79412" y="914400"/>
            <a:ext cx="10591800" cy="2895600"/>
          </a:xfrm>
        </p:spPr>
        <p:txBody>
          <a:bodyPr>
            <a:normAutofit fontScale="25000" lnSpcReduction="20000"/>
          </a:bodyPr>
          <a:lstStyle/>
          <a:p>
            <a:r>
              <a:rPr lang="en-US" sz="8000" dirty="0">
                <a:solidFill>
                  <a:schemeClr val="tx2"/>
                </a:solidFill>
                <a:latin typeface="Söhne"/>
              </a:rPr>
              <a:t>Help of segmentation analysis, Understanding these segments can help tailor marketing strategies more effectively.</a:t>
            </a:r>
          </a:p>
          <a:p>
            <a:r>
              <a:rPr lang="en-US" sz="8000" dirty="0">
                <a:solidFill>
                  <a:schemeClr val="tx2"/>
                </a:solidFill>
                <a:latin typeface="Söhne"/>
              </a:rPr>
              <a:t>From this project, We can actually understand which type of cars customer wants to buys.</a:t>
            </a:r>
          </a:p>
          <a:p>
            <a:r>
              <a:rPr lang="en-US" sz="8000" dirty="0">
                <a:solidFill>
                  <a:schemeClr val="tx2"/>
                </a:solidFill>
                <a:latin typeface="Söhne"/>
              </a:rPr>
              <a:t>We can identify customer behavior and what type of specification in cars they actually need.</a:t>
            </a:r>
          </a:p>
          <a:p>
            <a:r>
              <a:rPr lang="en-US" sz="8000" dirty="0">
                <a:solidFill>
                  <a:schemeClr val="tx2"/>
                </a:solidFill>
                <a:latin typeface="Söhne"/>
              </a:rPr>
              <a:t>Evaluate the performance of different car making company have what percentage of market share that stand out and consider leveraging these in marketing campaigns.</a:t>
            </a:r>
          </a:p>
          <a:p>
            <a:endParaRPr lang="en-US" dirty="0">
              <a:solidFill>
                <a:schemeClr val="tx2"/>
              </a:solidFill>
              <a:latin typeface="Söhne"/>
            </a:endParaRPr>
          </a:p>
          <a:p>
            <a:pPr marL="0" indent="0">
              <a:buNone/>
            </a:pPr>
            <a:r>
              <a:rPr lang="en-US" sz="12800" dirty="0">
                <a:solidFill>
                  <a:schemeClr val="tx2"/>
                </a:solidFill>
                <a:latin typeface="Söhne"/>
              </a:rPr>
              <a:t>Recommendation:</a:t>
            </a:r>
          </a:p>
          <a:p>
            <a:r>
              <a:rPr lang="en-US" sz="7200" i="0" dirty="0">
                <a:effectLst/>
                <a:latin typeface="Söhne"/>
              </a:rPr>
              <a:t>Enhance Product Features: Identify areas where product features can be enhanced or introduced to align with consumer preferences</a:t>
            </a:r>
          </a:p>
          <a:p>
            <a:r>
              <a:rPr lang="en-US" sz="7200" i="0" dirty="0">
                <a:effectLst/>
                <a:latin typeface="Söhne"/>
              </a:rPr>
              <a:t>Collaborate with Dealerships: Work closely with dealerships to align marketing strategies with on-the-ground sales efforts.</a:t>
            </a:r>
          </a:p>
          <a:p>
            <a:r>
              <a:rPr lang="en-US" sz="7200" i="0" dirty="0">
                <a:effectLst/>
                <a:latin typeface="Söhne"/>
              </a:rPr>
              <a:t>Leverage Popular Models: Highlight and promote models that exhibit high performance, fuel efficiency, or other appealing features.</a:t>
            </a:r>
            <a:endParaRPr lang="en-US" sz="7200" dirty="0">
              <a:solidFill>
                <a:schemeClr val="tx2"/>
              </a:solidFill>
              <a:latin typeface="Söhne"/>
            </a:endParaRPr>
          </a:p>
          <a:p>
            <a:endParaRPr lang="en-US" dirty="0">
              <a:solidFill>
                <a:schemeClr val="tx2"/>
              </a:solidFill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4192264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14F769-4565-3A5A-B4CC-5DB36083B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6412" y="2667000"/>
            <a:ext cx="5029200" cy="990600"/>
          </a:xfrm>
        </p:spPr>
        <p:txBody>
          <a:bodyPr>
            <a:normAutofit fontScale="92500" lnSpcReduction="10000"/>
          </a:bodyPr>
          <a:lstStyle/>
          <a:p>
            <a:r>
              <a:rPr lang="en-US" sz="72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39445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arketing 16x9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marketing glass cube presentation (widescreen).potx" id="{454792B9-F7C6-4CDD-89A0-89451A081408}" vid="{E847D748-0CA0-4BC8-838F-3216ECA80016}"/>
    </a:ext>
  </a:extLst>
</a:theme>
</file>

<file path=ppt/theme/theme2.xml><?xml version="1.0" encoding="utf-8"?>
<a:theme xmlns:a="http://schemas.openxmlformats.org/drawingml/2006/main" name="Office Theme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marketing glass cube presentation (widescreen)</Template>
  <TotalTime>1322</TotalTime>
  <Words>446</Words>
  <Application>Microsoft Office PowerPoint</Application>
  <PresentationFormat>Custom</PresentationFormat>
  <Paragraphs>35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Corbel</vt:lpstr>
      <vt:lpstr>Söhne</vt:lpstr>
      <vt:lpstr>Symbol</vt:lpstr>
      <vt:lpstr>Marketing 16x9</vt:lpstr>
      <vt:lpstr>Marketing Project </vt:lpstr>
      <vt:lpstr>Project Proposal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Project </dc:title>
  <dc:creator>Nirali Sureshbhai Khirsaria</dc:creator>
  <cp:lastModifiedBy>Nirali Khirsaria</cp:lastModifiedBy>
  <cp:revision>6</cp:revision>
  <dcterms:created xsi:type="dcterms:W3CDTF">2023-12-02T16:24:38Z</dcterms:created>
  <dcterms:modified xsi:type="dcterms:W3CDTF">2025-12-16T23:00:42Z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